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7315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E3049"/>
                </a:solidFill>
                <a:latin typeface="Aptos"/>
              </a:rPr>
              <a:t>AquaTrace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47088"/>
            <a:ext cx="7772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3049"/>
                </a:solidFill>
                <a:latin typeface="Aptos"/>
              </a:rPr>
              <a:t>A Data-Driven Framework for Diagnosing
and Prioritizing Data Center Water-Risk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06324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03D4A"/>
                </a:solidFill>
                <a:latin typeface="Aptos"/>
              </a:rPr>
              <a:t>Mini Project — Visualization of Data, Understanding and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767328"/>
            <a:ext cx="960120" cy="54864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09728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48132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29D9F"/>
                </a:solidFill>
                <a:latin typeface="Aptos"/>
              </a:rPr>
              <a:t>TEAM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933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3049"/>
                </a:solidFill>
                <a:latin typeface="Aptos"/>
              </a:rPr>
              <a:t>M.B.DIVYADHARSHINI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87582"/>
                </a:solidFill>
                <a:latin typeface="Aptos"/>
              </a:rPr>
              <a:t>PES2UG2UG24CS252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3049"/>
                </a:solidFill>
                <a:latin typeface="Aptos"/>
              </a:rPr>
              <a:t>MEDHA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0358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87582"/>
                </a:solidFill>
                <a:latin typeface="Aptos"/>
              </a:rPr>
              <a:t>PES2UG24CS275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49300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3049"/>
                </a:solidFill>
                <a:latin typeface="Aptos"/>
              </a:rPr>
              <a:t>RACHEL MATHEW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85615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87582"/>
                </a:solidFill>
                <a:latin typeface="Aptos"/>
              </a:rPr>
              <a:t>PES2UG24CS390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4281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3049"/>
                </a:solidFill>
                <a:latin typeface="Aptos"/>
              </a:rPr>
              <a:t>MANASI SABNIS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535424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87582"/>
                </a:solidFill>
                <a:latin typeface="Aptos"/>
              </a:rPr>
              <a:t>PES2UG24CS261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582"/>
                </a:solidFill>
                <a:latin typeface="Aptos"/>
              </a:rPr>
              <a:t>AquaTrace  |  Team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875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9D9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304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9611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87582"/>
                </a:solidFill>
                <a:latin typeface="Aptos"/>
              </a:rPr>
              <a:t>AquaTrace focuses on diagnosing and communicating water-risk — not directly reducing consumption.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863072" cy="22860"/>
          </a:xfrm>
          <a:prstGeom prst="rect">
            <a:avLst/>
          </a:prstGeom>
          <a:solidFill>
            <a:srgbClr val="D2DBE4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53796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9D9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049"/>
                </a:solidFill>
                <a:latin typeface="Aptos"/>
              </a:rPr>
              <a:t>Data centers consume large volumes of water for cooling, while facility-level water-use reporting remains limited.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5623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03D4A"/>
                </a:solidFill>
                <a:latin typeface="Aptos"/>
              </a:rPr>
              <a:t>This makes it difficult for regulators, communities and sustainability planners to identify where water risk is concentrated and what characteristics drive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9792" y="1737360"/>
            <a:ext cx="4041648" cy="4069080"/>
          </a:xfrm>
          <a:prstGeom prst="roundRect">
            <a:avLst/>
          </a:prstGeom>
          <a:solidFill>
            <a:srgbClr val="1E3049"/>
          </a:solidFill>
          <a:ln>
            <a:solidFill>
              <a:srgbClr val="1E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CDCD"/>
                </a:solidFill>
                <a:latin typeface="Aptos"/>
              </a:rPr>
              <a:t>OUR 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542032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Which characteristics
most strongly predict
high water-risk?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069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AF1"/>
                </a:solidFill>
                <a:latin typeface="Aptos"/>
              </a:rPr>
              <a:t>1   Cooling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4531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AF1"/>
                </a:solidFill>
                <a:latin typeface="Aptos"/>
              </a:rPr>
              <a:t>2   Geographic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3717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AF1"/>
                </a:solidFill>
                <a:latin typeface="Aptos"/>
              </a:rPr>
              <a:t>3   Facility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22122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AF1"/>
                </a:solidFill>
                <a:latin typeface="Aptos"/>
              </a:rPr>
              <a:t>4  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582"/>
                </a:solidFill>
                <a:latin typeface="Aptos"/>
              </a:rPr>
              <a:t>AquaTrace  |  Team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875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9D9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3049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9611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87582"/>
                </a:solidFill>
                <a:latin typeface="Aptos"/>
              </a:rPr>
              <a:t>Primary source: “Global Data Center &amp; AI Water/Electricity Usage” (Kaggle).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863072" cy="22860"/>
          </a:xfrm>
          <a:prstGeom prst="rect">
            <a:avLst/>
          </a:prstGeom>
          <a:solidFill>
            <a:srgbClr val="D2DBE4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37560" cy="960120"/>
          </a:xfrm>
          <a:prstGeom prst="round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83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3049"/>
                </a:solidFill>
                <a:latin typeface="Aptos"/>
              </a:rPr>
              <a:t>18,110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582"/>
                </a:solidFill>
                <a:latin typeface="Aptos"/>
              </a:rPr>
              <a:t>facility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691640"/>
            <a:ext cx="3337560" cy="960120"/>
          </a:xfrm>
          <a:prstGeom prst="round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3" y="1883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3049"/>
                </a:solidFill>
                <a:latin typeface="Aptos"/>
              </a:rPr>
              <a:t>2019–2025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3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582"/>
                </a:solidFill>
                <a:latin typeface="Aptos"/>
              </a:rPr>
              <a:t>records span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91640"/>
            <a:ext cx="3337560" cy="960120"/>
          </a:xfrm>
          <a:prstGeom prst="round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83664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E3049"/>
                </a:solidFill>
                <a:latin typeface="Aptos"/>
              </a:rPr>
              <a:t>Facility-level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582"/>
                </a:solidFill>
                <a:latin typeface="Aptos"/>
              </a:rPr>
              <a:t>analytical focus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2971800"/>
          <a:ext cx="1086307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8805672"/>
              </a:tblGrid>
              <a:tr h="403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Attribute</a:t>
                      </a:r>
                    </a:p>
                  </a:txBody>
                  <a:tcPr marL="109728" marR="109728" marT="73152" marB="54864">
                    <a:solidFill>
                      <a:srgbClr val="1E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Details</a:t>
                      </a:r>
                    </a:p>
                  </a:txBody>
                  <a:tcPr marL="109728" marR="109728" marT="73152" marB="54864">
                    <a:solidFill>
                      <a:srgbClr val="1E304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049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D4A"/>
                          </a:solidFill>
                          <a:latin typeface="Aptos"/>
                        </a:defRPr>
                      </a:pPr>
                      <a:r>
                        <a:t>City / country of facility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049"/>
                          </a:solidFill>
                          <a:latin typeface="Aptos"/>
                        </a:defRPr>
                      </a:pPr>
                      <a:r>
                        <a:t>Facility type</a:t>
                      </a:r>
                    </a:p>
                  </a:txBody>
                  <a:tcPr marL="109728" marR="109728" marT="73152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D4A"/>
                          </a:solidFill>
                          <a:latin typeface="Aptos"/>
                        </a:defRPr>
                      </a:pPr>
                      <a:r>
                        <a:t>Hyperscale / enterprise</a:t>
                      </a:r>
                    </a:p>
                  </a:txBody>
                  <a:tcPr marL="109728" marR="109728" marT="73152" marB="54864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049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D4A"/>
                          </a:solidFill>
                          <a:latin typeface="Aptos"/>
                        </a:defRPr>
                      </a:pPr>
                      <a:r>
                        <a:t>Cooling system, capacity, utilization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049"/>
                          </a:solidFill>
                          <a:latin typeface="Aptos"/>
                        </a:defRPr>
                      </a:pPr>
                      <a:r>
                        <a:t>Efficiency &amp; use</a:t>
                      </a:r>
                    </a:p>
                  </a:txBody>
                  <a:tcPr marL="109728" marR="109728" marT="73152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D4A"/>
                          </a:solidFill>
                          <a:latin typeface="Aptos"/>
                        </a:defRPr>
                      </a:pPr>
                      <a:r>
                        <a:t>PUE, WUE, daily water and electricity use</a:t>
                      </a:r>
                    </a:p>
                  </a:txBody>
                  <a:tcPr marL="109728" marR="109728" marT="73152" marB="54864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049"/>
                          </a:solidFill>
                          <a:latin typeface="Aptos"/>
                        </a:defRPr>
                      </a:pPr>
                      <a:r>
                        <a:t>Risk context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D4A"/>
                          </a:solidFill>
                          <a:latin typeface="Aptos"/>
                        </a:defRPr>
                      </a:pPr>
                      <a:r>
                        <a:t>Regional water-stress index</a:t>
                      </a:r>
                    </a:p>
                  </a:txBody>
                  <a:tcPr marL="109728" marR="109728" marT="73152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58368" y="5650992"/>
            <a:ext cx="108630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15584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582"/>
                </a:solidFill>
                <a:latin typeface="Aptos"/>
              </a:rPr>
              <a:t>Data limitation: facility names/locations are real; operational water/electricity metrics are industry-informed modeled estimates.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582"/>
                </a:solidFill>
                <a:latin typeface="Aptos"/>
              </a:rPr>
              <a:t>AquaTrace  |  Team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875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29D9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3049"/>
                </a:solidFill>
                <a:latin typeface="Aptos"/>
              </a:rPr>
              <a:t>Syllabus Units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89611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87582"/>
                </a:solidFill>
                <a:latin typeface="Aptos"/>
              </a:rPr>
              <a:t>The project uses four units; Units 1 and 2 provide the core visualization foundation.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863072" cy="22860"/>
          </a:xfrm>
          <a:prstGeom prst="rect">
            <a:avLst/>
          </a:prstGeom>
          <a:solidFill>
            <a:srgbClr val="D2DBE4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16636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1719072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56815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29D9F"/>
                </a:solidFill>
                <a:latin typeface="Aptos"/>
              </a:rPr>
              <a:t>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3049"/>
                </a:solidFill>
                <a:latin typeface="Aptos"/>
              </a:rPr>
              <a:t>Foundations of Visualization &amp; Data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71215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03D4A"/>
                </a:solidFill>
                <a:latin typeface="Aptos"/>
              </a:rPr>
              <a:t>Data preprocessing • EDA • trend &amp; correlation identification • multivariate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37360"/>
            <a:ext cx="516636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737360"/>
            <a:ext cx="82296" cy="1719072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56815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29D9F"/>
                </a:solidFill>
                <a:latin typeface="Aptos"/>
              </a:rPr>
              <a:t>UNIT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04288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3049"/>
                </a:solidFill>
                <a:latin typeface="Aptos"/>
              </a:rPr>
              <a:t>Advanced Visualization &amp; Storytelling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871215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03D4A"/>
                </a:solidFill>
                <a:latin typeface="Aptos"/>
              </a:rPr>
              <a:t>Narrative visualization • audience-centric design • annotation • Hook → Build-up → Insight → Conclusion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516636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94760"/>
            <a:ext cx="82296" cy="1719072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014216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29D9F"/>
                </a:solidFill>
                <a:latin typeface="Aptos"/>
              </a:rPr>
              <a:t>UNIT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61688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3049"/>
                </a:solidFill>
                <a:latin typeface="Aptos"/>
              </a:rPr>
              <a:t>Multimedia &amp; Interactive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928616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03D4A"/>
                </a:solidFill>
                <a:latin typeface="Aptos"/>
              </a:rPr>
              <a:t>Slicers • filtering • drill-down • dashboard design &amp; accessibility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794760"/>
            <a:ext cx="516636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794760"/>
            <a:ext cx="82296" cy="1719072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4014216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29D9F"/>
                </a:solidFill>
                <a:latin typeface="Aptos"/>
              </a:rPr>
              <a:t>UNIT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361688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3049"/>
                </a:solidFill>
                <a:latin typeface="Aptos"/>
              </a:rPr>
              <a:t>AI-Assisted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928616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03D4A"/>
                </a:solidFill>
                <a:latin typeface="Aptos"/>
              </a:rPr>
              <a:t>Pattern recognition • explainable AI (XAI) • visualizing ML predictions &amp;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989320"/>
            <a:ext cx="10652760" cy="384048"/>
          </a:xfrm>
          <a:prstGeom prst="round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80760"/>
            <a:ext cx="10287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E3049"/>
                </a:solidFill>
                <a:latin typeface="Aptos"/>
              </a:rPr>
              <a:t>CORE REQUIREMENT: Unit 1 + Unit 2     |     EXTENSION: Unit 3     |     AI / XAI: Unit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582"/>
                </a:solidFill>
                <a:latin typeface="Aptos"/>
              </a:rPr>
              <a:t>AquaTrace  |  Team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875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8F6"/>
          </a:solidFill>
          <a:ln>
            <a:solidFill>
              <a:srgbClr val="D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9D9F"/>
          </a:solidFill>
          <a:ln>
            <a:solidFill>
              <a:srgbClr val="42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E3049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488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29D9F"/>
                </a:solidFill>
                <a:latin typeface="Aptos"/>
              </a:rPr>
              <a:t>AquaTrace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761488"/>
            <a:ext cx="6309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03D4A"/>
                </a:solidFill>
                <a:latin typeface="Aptos"/>
              </a:rPr>
              <a:t>Diagnosing and prioritizing data-center water-risk
through visualization and explainable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2588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737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29D9F"/>
                </a:solidFill>
                <a:latin typeface="Aptos"/>
              </a:rPr>
              <a:t>TEAM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31720"/>
            <a:ext cx="2651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3049"/>
                </a:solidFill>
                <a:latin typeface="Aptos"/>
              </a:rPr>
              <a:t>M.B.DIVYADHARSHINI
MEDHA V
RACHEL MATHEW
MANASI SABNIS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440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582"/>
                </a:solidFill>
                <a:latin typeface="Aptos"/>
              </a:rPr>
              <a:t>Mini Project — VDUI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87582"/>
                </a:solidFill>
                <a:latin typeface="Aptos"/>
              </a:rPr>
              <a:t>AquaTrace  |  Team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875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